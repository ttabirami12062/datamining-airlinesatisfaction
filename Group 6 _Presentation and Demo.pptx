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2" r:id="rId4"/>
    <p:sldId id="264" r:id="rId5"/>
    <p:sldId id="270" r:id="rId6"/>
    <p:sldId id="299" r:id="rId7"/>
    <p:sldId id="285" r:id="rId8"/>
    <p:sldId id="284" r:id="rId9"/>
    <p:sldId id="286" r:id="rId10"/>
    <p:sldId id="297" r:id="rId11"/>
    <p:sldId id="280" r:id="rId12"/>
    <p:sldId id="281" r:id="rId13"/>
    <p:sldId id="282" r:id="rId14"/>
    <p:sldId id="298" r:id="rId15"/>
    <p:sldId id="283" r:id="rId16"/>
    <p:sldId id="272" r:id="rId17"/>
    <p:sldId id="271" r:id="rId18"/>
    <p:sldId id="294" r:id="rId19"/>
    <p:sldId id="278" r:id="rId20"/>
    <p:sldId id="287" r:id="rId21"/>
    <p:sldId id="288" r:id="rId22"/>
    <p:sldId id="259" r:id="rId23"/>
    <p:sldId id="260" r:id="rId24"/>
    <p:sldId id="261" r:id="rId25"/>
    <p:sldId id="295" r:id="rId26"/>
    <p:sldId id="296" r:id="rId27"/>
    <p:sldId id="290" r:id="rId28"/>
    <p:sldId id="292" r:id="rId29"/>
    <p:sldId id="291" r:id="rId30"/>
    <p:sldId id="293" r:id="rId31"/>
    <p:sldId id="289" r:id="rId32"/>
    <p:sldId id="26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050D"/>
    <a:srgbClr val="FFFFF7"/>
    <a:srgbClr val="FFFFF3"/>
    <a:srgbClr val="E6E3CD"/>
    <a:srgbClr val="46040A"/>
    <a:srgbClr val="6B0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593DC-5AEA-CE78-FF16-D475DD86AE5A}" v="194" dt="2025-12-11T06:46:08.845"/>
    <p1510:client id="{796359CF-9D31-9B5D-6ED2-E1702C2E43DA}" v="40" dt="2025-12-11T11:47:23.592"/>
    <p1510:client id="{82C7114D-6BAE-4091-5900-9D03E74AD68C}" v="1183" dt="2025-12-11T09:08:05.625"/>
    <p1510:client id="{D91757A7-52B9-9DBE-6C9F-E79CBDCD1964}" v="207" dt="2025-12-11T03:18:05.849"/>
    <p1510:client id="{EB67A248-C38B-4033-214F-DAC9B1D2BB74}" v="338" dt="2025-12-11T10:05:30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50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30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3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66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50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1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42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2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33E11-BF99-7E43-90AD-9C8A7F7F08B8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17F69-7B94-E04E-8C6E-E4449EB77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67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youtu.be/TPWopQruvhI" TargetMode="Externa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2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40556"/>
            <a:ext cx="7772400" cy="1082014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Times New Roman"/>
              </a:rPr>
              <a:t>Analyzing &amp; Predicting Airline Passenger Satisfaction</a:t>
            </a:r>
            <a:endParaRPr lang="en-US" sz="2800">
              <a:solidFill>
                <a:schemeClr val="tx1">
                  <a:lumMod val="85000"/>
                  <a:lumOff val="15000"/>
                </a:schemeClr>
              </a:solidFill>
              <a:latin typeface="Arial"/>
            </a:endParaRPr>
          </a:p>
          <a:p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41002"/>
            <a:ext cx="6400800" cy="611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Times New Roman"/>
              </a:rPr>
              <a:t>CS5593-001</a:t>
            </a:r>
            <a:endParaRPr lang="en-US" sz="180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  <a:p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Times New Roman"/>
              </a:rPr>
              <a:t>Data Mining </a:t>
            </a:r>
          </a:p>
          <a:p>
            <a:r>
              <a:rPr lang="en-US" sz="1800" b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Fall 2025</a:t>
            </a:r>
            <a:endParaRPr lang="en-US" sz="180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7740" y="3684118"/>
            <a:ext cx="8192232" cy="19082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>
                <a:solidFill>
                  <a:srgbClr val="46040A"/>
                </a:solidFill>
                <a:latin typeface="Times New Roman"/>
                <a:ea typeface="Calibri"/>
                <a:cs typeface="Times New Roman"/>
              </a:rPr>
              <a:t>Presented By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endParaRPr lang="en-US" sz="1400" i="1">
              <a:solidFill>
                <a:srgbClr val="46040A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400" b="1">
                <a:solidFill>
                  <a:srgbClr val="46040A"/>
                </a:solidFill>
                <a:latin typeface="Times New Roman"/>
                <a:ea typeface="Calibri"/>
                <a:cs typeface="Times New Roman"/>
              </a:rPr>
              <a:t>   Abirami Thiyagarajan    Nethra Janardhanan    Sai Krishna Bharadwaj Burra</a:t>
            </a:r>
            <a:endParaRPr lang="en-US" sz="1400">
              <a:ea typeface="Calibri"/>
              <a:cs typeface="Calibri"/>
            </a:endParaRPr>
          </a:p>
          <a:p>
            <a:pPr algn="ctr"/>
            <a:endParaRPr lang="en-US" sz="1400" b="1" dirty="0">
              <a:solidFill>
                <a:srgbClr val="46040A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1400" b="1" dirty="0">
              <a:solidFill>
                <a:srgbClr val="46040A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400" b="1">
                <a:solidFill>
                  <a:srgbClr val="46040A"/>
                </a:solidFill>
                <a:latin typeface="Times New Roman"/>
                <a:ea typeface="Calibri"/>
                <a:cs typeface="Times New Roman"/>
              </a:rPr>
              <a:t>YOUTUBE LINK: </a:t>
            </a:r>
            <a:r>
              <a:rPr lang="en-US" sz="1400" dirty="0">
                <a:solidFill>
                  <a:srgbClr val="46040A"/>
                </a:solidFill>
                <a:ea typeface="+mn-lt"/>
                <a:cs typeface="+mn-lt"/>
                <a:hlinkClick r:id="rId2"/>
              </a:rPr>
              <a:t>https://youtu.be/TPWopQruvhI</a:t>
            </a:r>
            <a:endParaRPr lang="en-US" sz="1400" b="1" dirty="0">
              <a:solidFill>
                <a:srgbClr val="46040A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2400" i="1">
              <a:solidFill>
                <a:srgbClr val="46040A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9" name="Picture 8" descr="ou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/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6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D85D-D487-987D-1F7A-F70DC003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Outline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B1BA2-A88D-CC40-10F3-C8E2E033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Introduction &amp; Motivation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Related Work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System Architecture &amp; Dataset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Methods: Regression, K-Means Clustering, Random Forest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Experimental Results &amp; Insights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Web Application Demo (Predict, Reports, Dashboard)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Conclusion &amp; Future Work 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BA2315-803E-2DCC-46F3-CDAD16E1B8F0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4830E470-6658-6482-473C-095658CE3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DDA5DB-24CA-2DC4-51D1-50DB2E9BF9E9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B6015E34-F417-8061-63D5-55D120DA23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6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44036-CB7D-816C-D100-6A63C824A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Introduction</a:t>
            </a:r>
            <a:endParaRPr lang="en-US" sz="3200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54F8E-C078-7A6F-B20C-CBC611122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83" y="1710588"/>
            <a:ext cx="5845981" cy="361849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sz="2000">
                <a:ea typeface="+mn-lt"/>
                <a:cs typeface="+mn-lt"/>
              </a:rPr>
              <a:t>Airlines run on thin margins, so passenger satisfaction is key for loyalty and revenue.</a:t>
            </a:r>
            <a:endParaRPr lang="en-US" sz="2000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000">
              <a:ea typeface="+mn-lt"/>
              <a:cs typeface="+mn-lt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Prior work often treats service quality and delays separately instead of using one unified model.</a:t>
            </a:r>
            <a:endParaRPr lang="en-US" sz="2000"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2000">
              <a:ea typeface="+mn-lt"/>
              <a:cs typeface="+mn-lt"/>
            </a:endParaRPr>
          </a:p>
          <a:p>
            <a:pPr algn="just"/>
            <a:r>
              <a:rPr lang="en-US" sz="2000">
                <a:ea typeface="+mn-lt"/>
                <a:cs typeface="+mn-lt"/>
              </a:rPr>
              <a:t>Our project builds an end-to-end data-mining system on the Airline Passenger Satisfaction dataset using Linear Regression, K-Means Clustering, and Random Forest Classification in a React–Flask web app to analyze and predict satisfaction.</a:t>
            </a:r>
            <a:endParaRPr lang="en-US" sz="2000">
              <a:ea typeface="Calibri"/>
              <a:cs typeface="Calibri"/>
            </a:endParaRPr>
          </a:p>
          <a:p>
            <a:pPr marL="0" indent="0" algn="just">
              <a:spcBef>
                <a:spcPts val="1400"/>
              </a:spcBef>
              <a:spcAft>
                <a:spcPts val="100"/>
              </a:spcAft>
              <a:buNone/>
            </a:pPr>
            <a:endParaRPr lang="en-US" sz="20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E19A2-E851-E5A1-8088-E04E86D9A54D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230F2683-B234-821D-7CA6-9DCE9FB1B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6605DD-C121-D7B0-BC0B-DCBAF373B470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ou seal.jpg">
            <a:extLst>
              <a:ext uri="{FF2B5EF4-FFF2-40B4-BE49-F238E27FC236}">
                <a16:creationId xmlns:a16="http://schemas.microsoft.com/office/drawing/2014/main" id="{7FC1C365-1E47-EDFC-F64E-C991AEA03A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pic>
        <p:nvPicPr>
          <p:cNvPr id="19" name="Picture 18" descr="Air plane PNG Designs for T Shirt &amp; Merch">
            <a:extLst>
              <a:ext uri="{FF2B5EF4-FFF2-40B4-BE49-F238E27FC236}">
                <a16:creationId xmlns:a16="http://schemas.microsoft.com/office/drawing/2014/main" id="{88043B16-DB0C-0788-D3C5-C257852142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830" y="2057400"/>
            <a:ext cx="2599577" cy="25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72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1247-5799-0EF4-D29C-1CFC30EB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Related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878BC-4281-ED16-48B4-DD9D4E661040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26F0E540-51D2-8400-39ED-FEBF50AFD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05C065-2E10-75ED-26C9-535C3419AEC7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7C396D19-3B69-A1E8-B98F-74F031720A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3D2217-1215-B948-1B1B-92BFB7E85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459822"/>
              </p:ext>
            </p:extLst>
          </p:nvPr>
        </p:nvGraphicFramePr>
        <p:xfrm>
          <a:off x="502680" y="1244732"/>
          <a:ext cx="8317600" cy="34916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62062">
                  <a:extLst>
                    <a:ext uri="{9D8B030D-6E8A-4147-A177-3AD203B41FA5}">
                      <a16:colId xmlns:a16="http://schemas.microsoft.com/office/drawing/2014/main" val="216134905"/>
                    </a:ext>
                  </a:extLst>
                </a:gridCol>
                <a:gridCol w="2854507">
                  <a:extLst>
                    <a:ext uri="{9D8B030D-6E8A-4147-A177-3AD203B41FA5}">
                      <a16:colId xmlns:a16="http://schemas.microsoft.com/office/drawing/2014/main" val="2290895251"/>
                    </a:ext>
                  </a:extLst>
                </a:gridCol>
                <a:gridCol w="3201031">
                  <a:extLst>
                    <a:ext uri="{9D8B030D-6E8A-4147-A177-3AD203B41FA5}">
                      <a16:colId xmlns:a16="http://schemas.microsoft.com/office/drawing/2014/main" val="2931686663"/>
                    </a:ext>
                  </a:extLst>
                </a:gridCol>
              </a:tblGrid>
              <a:tr h="314064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Arial"/>
                        </a:rPr>
                        <a:t>Study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Arial"/>
                        </a:rPr>
                        <a:t>Focus Area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 b="1">
                          <a:effectLst/>
                          <a:latin typeface="Arial"/>
                        </a:rPr>
                        <a:t>Limitation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016463"/>
                  </a:ext>
                </a:extLst>
              </a:tr>
              <a:tr h="609654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Oliveira et al. (2023)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Airport service quality and delay perception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Focuses on perception and survey bias; no prediction model or passenger segments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320935"/>
                  </a:ext>
                </a:extLst>
              </a:tr>
              <a:tr h="609654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Yas et al. (2022)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Service quality → satisfaction → loyalty (SEM)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High-level relationships only; no predictive model, no clustering, no service–delay integration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768473"/>
                  </a:ext>
                </a:extLst>
              </a:tr>
              <a:tr h="517283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Eshaghi et al. (2024)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Meta-analysis of airline satisfaction drivers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Shows service and delays both matter but treats them separately; no unified model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4076656"/>
                  </a:ext>
                </a:extLst>
              </a:tr>
              <a:tr h="609654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 err="1">
                          <a:effectLst/>
                          <a:latin typeface="Arial"/>
                        </a:rPr>
                        <a:t>Şahinbaş</a:t>
                      </a:r>
                      <a:r>
                        <a:rPr lang="en-US" sz="1100">
                          <a:effectLst/>
                          <a:latin typeface="Arial"/>
                        </a:rPr>
                        <a:t> (2022)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K-Means vs DBSCAN for airline customer segmentation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Uses clustering but no PCA, no internal metrics, and no link to satisfaction or delay patterns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061757"/>
                  </a:ext>
                </a:extLst>
              </a:tr>
              <a:tr h="831347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Qu (2024)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>
                          <a:effectLst/>
                          <a:latin typeface="Arial"/>
                        </a:rPr>
                        <a:t>Linear regression algorithms </a:t>
                      </a:r>
                      <a:endParaRPr lang="en-US">
                        <a:effectLst/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120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1100" b="0" i="0" u="none" strike="noStrike" noProof="0">
                          <a:effectLst/>
                          <a:latin typeface="Arial"/>
                        </a:rPr>
                        <a:t>Focuses on standard linear regression theory, but does not address how to handle highly correlated features or use </a:t>
                      </a:r>
                      <a:r>
                        <a:rPr lang="en-US" sz="1100" b="0" i="0" u="none" strike="noStrike" noProof="0" err="1">
                          <a:effectLst/>
                          <a:latin typeface="Arial"/>
                        </a:rPr>
                        <a:t>regularised</a:t>
                      </a:r>
                      <a:r>
                        <a:rPr lang="en-US" sz="1100" b="0" i="0" u="none" strike="noStrike" noProof="0">
                          <a:effectLst/>
                          <a:latin typeface="Arial"/>
                        </a:rPr>
                        <a:t> and piecewise models for more realistic relationships.</a:t>
                      </a:r>
                      <a:endParaRPr lang="en-US">
                        <a:latin typeface="Arial"/>
                      </a:endParaRPr>
                    </a:p>
                  </a:txBody>
                  <a:tcPr marL="63500" marR="63500">
                    <a:lnL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8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607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3C4BFF-DCBC-BC65-4053-E8452B01FACE}"/>
              </a:ext>
            </a:extLst>
          </p:cNvPr>
          <p:cNvSpPr txBox="1"/>
          <p:nvPr/>
        </p:nvSpPr>
        <p:spPr>
          <a:xfrm>
            <a:off x="571500" y="4815417"/>
            <a:ext cx="8001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Our Contribution​ - First system to jointly model service and delays, use PCA-validated k means clustering, build tuned linear regression + Random Forest, and deploy a working Flask–React web app​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87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489F-636E-CBAE-D288-6ECE1ECF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2961-DDC5-E511-792C-1A37AB0A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670"/>
            <a:ext cx="8229600" cy="771974"/>
          </a:xfrm>
        </p:spPr>
        <p:txBody>
          <a:bodyPr>
            <a:normAutofit fontScale="90000"/>
          </a:bodyPr>
          <a:lstStyle/>
          <a:p>
            <a:br>
              <a:rPr lang="en-US" b="1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System Architecture</a:t>
            </a:r>
          </a:p>
          <a:p>
            <a:endParaRPr lang="en-US" b="1">
              <a:ea typeface="Calibri"/>
              <a:cs typeface="Calibri"/>
            </a:endParaRPr>
          </a:p>
        </p:txBody>
      </p:sp>
      <p:pic>
        <p:nvPicPr>
          <p:cNvPr id="4" name="Content Placeholder 3" descr="A diagram of a model training&#10;&#10;AI-generated content may be incorrect.">
            <a:extLst>
              <a:ext uri="{FF2B5EF4-FFF2-40B4-BE49-F238E27FC236}">
                <a16:creationId xmlns:a16="http://schemas.microsoft.com/office/drawing/2014/main" id="{C4CF8A05-62A4-113B-0686-56379E2943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1" b="381"/>
          <a:stretch>
            <a:fillRect/>
          </a:stretch>
        </p:blipFill>
        <p:spPr>
          <a:xfrm>
            <a:off x="2685681" y="1042229"/>
            <a:ext cx="3378061" cy="5529332"/>
          </a:xfrm>
          <a:prstGeom prst="rect">
            <a:avLst/>
          </a:prstGeom>
        </p:spPr>
      </p:pic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D6EC8950-4CE5-1D2F-62B9-9F5CEB42096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8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01F4F-8139-70C2-19FB-3254332B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938AB-95CD-E6B2-7B25-6143C150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2670"/>
            <a:ext cx="8229600" cy="771974"/>
          </a:xfrm>
        </p:spPr>
        <p:txBody>
          <a:bodyPr>
            <a:normAutofit fontScale="90000"/>
          </a:bodyPr>
          <a:lstStyle/>
          <a:p>
            <a:br>
              <a:rPr lang="en-US" b="1">
                <a:ea typeface="Calibri"/>
                <a:cs typeface="Calibri"/>
              </a:rPr>
            </a:br>
            <a:r>
              <a:rPr lang="en-US" b="1">
                <a:ea typeface="Calibri"/>
                <a:cs typeface="Calibri"/>
              </a:rPr>
              <a:t>Proposed Work</a:t>
            </a:r>
          </a:p>
          <a:p>
            <a:endParaRPr lang="en-US" b="1">
              <a:ea typeface="Calibri"/>
              <a:cs typeface="Calibri"/>
            </a:endParaRPr>
          </a:p>
        </p:txBody>
      </p: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838F3926-82E1-4C49-C881-DF4EF32622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60D36-5885-7410-5349-0CE5022DE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0867"/>
            <a:ext cx="7996767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Arial"/>
                <a:cs typeface="Arial"/>
              </a:rPr>
              <a:t>Regression Modelling</a:t>
            </a:r>
            <a:endParaRPr lang="en-US" sz="1800">
              <a:latin typeface="Arial"/>
              <a:ea typeface="Calibri"/>
              <a:cs typeface="Arial"/>
            </a:endParaRPr>
          </a:p>
          <a:p>
            <a:r>
              <a:rPr lang="en-US" sz="1800">
                <a:latin typeface="Arial"/>
                <a:ea typeface="+mn-lt"/>
                <a:cs typeface="+mn-lt"/>
              </a:rPr>
              <a:t>Implemented Linear, Ridge, Lasso, and Piecewise regression to quantify how service quality and delays influence passenger satisfaction.</a:t>
            </a:r>
            <a:endParaRPr lang="en-US" sz="1800">
              <a:latin typeface="Arial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>
              <a:latin typeface="Arial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latin typeface="Arial"/>
                <a:cs typeface="Arial"/>
              </a:rPr>
              <a:t>Clustering Analysis (PCA + K-Means)</a:t>
            </a:r>
            <a:endParaRPr lang="en-US" sz="1800">
              <a:latin typeface="Arial"/>
              <a:ea typeface="Calibri"/>
              <a:cs typeface="Arial"/>
            </a:endParaRPr>
          </a:p>
          <a:p>
            <a:r>
              <a:rPr lang="en-US" sz="1800">
                <a:latin typeface="Arial"/>
                <a:ea typeface="+mn-lt"/>
                <a:cs typeface="+mn-lt"/>
              </a:rPr>
              <a:t>Used PCA to reduce correlated service features and applied K-Means with ensemble validation to discover meaningful passenger segments.</a:t>
            </a:r>
            <a:endParaRPr lang="en-US" sz="1800">
              <a:latin typeface="Arial"/>
              <a:ea typeface="Calibri"/>
              <a:cs typeface="Calibri"/>
            </a:endParaRPr>
          </a:p>
          <a:p>
            <a:pPr marL="0" indent="0">
              <a:buNone/>
            </a:pPr>
            <a:endParaRPr lang="en-US" sz="1800">
              <a:latin typeface="Arial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b="1">
                <a:latin typeface="Arial"/>
                <a:cs typeface="Arial"/>
              </a:rPr>
              <a:t>Random Forest Classification</a:t>
            </a:r>
            <a:endParaRPr lang="en-US" sz="1800">
              <a:latin typeface="Arial"/>
              <a:ea typeface="Calibri"/>
              <a:cs typeface="Arial"/>
            </a:endParaRPr>
          </a:p>
          <a:p>
            <a:r>
              <a:rPr lang="en-US" sz="1800">
                <a:latin typeface="Arial"/>
                <a:ea typeface="+mn-lt"/>
                <a:cs typeface="+mn-lt"/>
              </a:rPr>
              <a:t>Built a from-scratch CART + Random Forest model, tuned with cross-validation, to accurately predict whether a passenger is satisfied or not.</a:t>
            </a:r>
            <a:endParaRPr lang="en-US" sz="1800">
              <a:latin typeface="Arial"/>
              <a:cs typeface="Arial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609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D1EAB-C38A-1699-338A-6023C6E7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F2A8A-72ED-B76A-455E-CC33471CB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" y="705506"/>
            <a:ext cx="8253537" cy="700163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Calibri"/>
                <a:cs typeface="Calibri"/>
              </a:rPr>
              <a:t>Clustering – K Means Clustering</a:t>
            </a: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075F3-2C63-540B-8672-D0E67279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95" y="1241142"/>
            <a:ext cx="8265505" cy="4059189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sz="180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Before clustering, we applied PCA to remove redundancy from highly correlated features.</a:t>
            </a:r>
          </a:p>
          <a:p>
            <a:r>
              <a:rPr lang="en-US" sz="1800">
                <a:ea typeface="+mn-lt"/>
                <a:cs typeface="+mn-lt"/>
              </a:rPr>
              <a:t>PCA pipeline produced 14 principal components explaining 91% variance.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These PCA scores were then used as the input to K-Means for more stable and meaningful clusters.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Implemented K-Means from scratch (random centroid initialization, assignment, centroid update, convergence check).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Ran one single K-Means run for each k = 2 to 10.</a:t>
            </a:r>
          </a:p>
          <a:p>
            <a:r>
              <a:rPr lang="en-US" sz="1800">
                <a:ea typeface="+mn-lt"/>
                <a:cs typeface="+mn-lt"/>
              </a:rPr>
              <a:t>Calculated SSE/Inertia </a:t>
            </a:r>
          </a:p>
          <a:p>
            <a:r>
              <a:rPr lang="en-US" sz="1800">
                <a:ea typeface="+mn-lt"/>
                <a:cs typeface="+mn-lt"/>
              </a:rPr>
              <a:t>Plotted the Elbow Curve from these single-run SSE values.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Used the elbow shape to get a rough idea of the possible number of clusters.</a:t>
            </a:r>
          </a:p>
          <a:p>
            <a:endParaRPr lang="en-US" sz="1800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3FE8E-B885-BB6B-6CA4-98477DDDDCF2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6F52C545-BDF9-46DD-E6F3-B2A506FCD9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E7D2B4-3278-6252-68CB-B35F897F5512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B3376237-D25F-AC9F-188F-A87230BA8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59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9899C-1849-472E-DD11-AE682F16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0538-566E-4C6D-9BD1-439A64E5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" y="705506"/>
            <a:ext cx="8253537" cy="700163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Calibri"/>
                <a:cs typeface="Calibri"/>
              </a:rPr>
              <a:t>Clustering – K Means Clustering</a:t>
            </a: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AD7DC-AB1D-AAD3-18CA-8B9F638EE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95" y="1241142"/>
            <a:ext cx="8265505" cy="40591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Enhanced K-Means </a:t>
            </a:r>
            <a:endParaRPr lang="en-US" sz="1800" b="1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For each k = 2 to 10, ran multiple seeds 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For each k, kept the best run with the lowest SSE, reducing randomness.</a:t>
            </a:r>
          </a:p>
          <a:p>
            <a:r>
              <a:rPr lang="en-US" sz="1800">
                <a:ea typeface="+mn-lt"/>
                <a:cs typeface="+mn-lt"/>
              </a:rPr>
              <a:t>Computed </a:t>
            </a:r>
            <a:r>
              <a:rPr lang="en-US" sz="1800" err="1">
                <a:ea typeface="+mn-lt"/>
                <a:cs typeface="+mn-lt"/>
              </a:rPr>
              <a:t>Calinski</a:t>
            </a:r>
            <a:r>
              <a:rPr lang="en-US" sz="1800">
                <a:ea typeface="+mn-lt"/>
                <a:cs typeface="+mn-lt"/>
              </a:rPr>
              <a:t>–</a:t>
            </a:r>
            <a:r>
              <a:rPr lang="en-US" sz="1800" err="1">
                <a:ea typeface="+mn-lt"/>
                <a:cs typeface="+mn-lt"/>
              </a:rPr>
              <a:t>Harabasz</a:t>
            </a:r>
            <a:r>
              <a:rPr lang="en-US" sz="1800">
                <a:ea typeface="+mn-lt"/>
                <a:cs typeface="+mn-lt"/>
              </a:rPr>
              <a:t>, Silhouette, and Davies–Bouldin scores using the best run for that k.</a:t>
            </a:r>
          </a:p>
          <a:p>
            <a:r>
              <a:rPr lang="en-US" sz="1800">
                <a:ea typeface="+mn-lt"/>
                <a:cs typeface="+mn-lt"/>
              </a:rPr>
              <a:t>Compared all metrics across k to decide which k had the strongest cluster separation.</a:t>
            </a:r>
          </a:p>
          <a:p>
            <a:pPr marL="0" indent="0">
              <a:buNone/>
            </a:pP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Key Difference</a:t>
            </a:r>
            <a:endParaRPr lang="en-US" sz="1800" b="1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Normal = 1 run per k to unstable results</a:t>
            </a:r>
            <a:endParaRPr lang="en-US" sz="1800">
              <a:ea typeface="Calibri"/>
              <a:cs typeface="Calibri"/>
            </a:endParaRPr>
          </a:p>
          <a:p>
            <a:r>
              <a:rPr lang="en-US" sz="1800">
                <a:ea typeface="+mn-lt"/>
                <a:cs typeface="+mn-lt"/>
              </a:rPr>
              <a:t>Enhanced = multiple seeds and validation metrics to stable, well-validated clustering</a:t>
            </a:r>
            <a:endParaRPr lang="en-US" sz="1800">
              <a:ea typeface="Calibri"/>
              <a:cs typeface="Calibri"/>
            </a:endParaRPr>
          </a:p>
          <a:p>
            <a:endParaRPr lang="en-US" sz="18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0215A4-0088-18EE-C0FE-41879F05FAAD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D7757E9F-0876-EAA2-9E96-F9F706D62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7DD735-5FED-B41F-B61A-690EFEF4A6E0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D15F0E8F-D3A2-5B38-8234-5D2608598F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725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4F8F-D6B1-9DA2-2527-66466077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5EE0-3531-4613-B35C-834AD32B8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" y="705506"/>
            <a:ext cx="8253537" cy="700163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Results - K Means Clustering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No description has been provided for this image">
            <a:extLst>
              <a:ext uri="{FF2B5EF4-FFF2-40B4-BE49-F238E27FC236}">
                <a16:creationId xmlns:a16="http://schemas.microsoft.com/office/drawing/2014/main" id="{3366744B-E509-A7DE-4025-89F4E0F3A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842" t="1169" r="-110"/>
          <a:stretch>
            <a:fillRect/>
          </a:stretch>
        </p:blipFill>
        <p:spPr>
          <a:xfrm>
            <a:off x="2288348" y="1302760"/>
            <a:ext cx="4237559" cy="31878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E14F2D-C955-664A-8B0C-05469D765DE5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7B16A6F6-7C99-740E-9240-E63D9F144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9E2A09-6C4C-6CF3-CA52-6189828BD458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0FD04C14-6C09-F750-5F62-7929ABFFD36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DBFDB0-EEEC-0BCA-B0A6-38E03263F1D4}"/>
              </a:ext>
            </a:extLst>
          </p:cNvPr>
          <p:cNvSpPr txBox="1"/>
          <p:nvPr/>
        </p:nvSpPr>
        <p:spPr>
          <a:xfrm>
            <a:off x="2010269" y="4689418"/>
            <a:ext cx="59226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Confirms that 14 PCs retain ~91% of total variance, justifying dimensionality reduction.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39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EE1B5-9D7F-8DB7-D728-E99341E3D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7753-557D-F9E3-7910-3AC4879A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" y="705506"/>
            <a:ext cx="8253537" cy="700163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Results - K Means Clustering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9E63B-D8DF-92A4-7041-FD3BB56167E3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B4D16A38-BCAD-3966-49AD-BF4B139F7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0A2C91-64A4-4179-80C1-2162491C60BF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559E2FA0-0210-7EF0-03AB-2BEC63EE9D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pic>
        <p:nvPicPr>
          <p:cNvPr id="10" name="Content Placeholder 9" descr="No description has been provided for this image">
            <a:extLst>
              <a:ext uri="{FF2B5EF4-FFF2-40B4-BE49-F238E27FC236}">
                <a16:creationId xmlns:a16="http://schemas.microsoft.com/office/drawing/2014/main" id="{00B0AEC8-66A5-3534-B000-2999D4444D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18206" y="1032548"/>
            <a:ext cx="5562600" cy="3657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18D716-FFEB-2FBE-B744-303F7260C56B}"/>
              </a:ext>
            </a:extLst>
          </p:cNvPr>
          <p:cNvSpPr txBox="1"/>
          <p:nvPr/>
        </p:nvSpPr>
        <p:spPr>
          <a:xfrm>
            <a:off x="1220415" y="4685845"/>
            <a:ext cx="69490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Elbow curve (single-run): Shows how SSE decreases with k, giving an initial idea of where the elbow occurs.</a:t>
            </a:r>
            <a:endParaRPr lang="en-US">
              <a:ea typeface="Calibri"/>
              <a:cs typeface="Calibri"/>
            </a:endParaRP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4070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o description has been provided for this image">
            <a:extLst>
              <a:ext uri="{FF2B5EF4-FFF2-40B4-BE49-F238E27FC236}">
                <a16:creationId xmlns:a16="http://schemas.microsoft.com/office/drawing/2014/main" id="{07A7C101-A537-2115-B2E5-1C8510359D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38" y="1408635"/>
            <a:ext cx="4709459" cy="35042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C8379F6-97F6-8BC6-63F3-4E99BFC7BE18}"/>
              </a:ext>
            </a:extLst>
          </p:cNvPr>
          <p:cNvSpPr txBox="1">
            <a:spLocks/>
          </p:cNvSpPr>
          <p:nvPr/>
        </p:nvSpPr>
        <p:spPr>
          <a:xfrm>
            <a:off x="193891" y="705506"/>
            <a:ext cx="8253537" cy="700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"/>
                <a:cs typeface="Calibri"/>
              </a:rPr>
              <a:t>Results - K Means Clustering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DAA7A-0A85-35EB-16F3-9E353581B95A}"/>
              </a:ext>
            </a:extLst>
          </p:cNvPr>
          <p:cNvSpPr txBox="1"/>
          <p:nvPr/>
        </p:nvSpPr>
        <p:spPr>
          <a:xfrm>
            <a:off x="1289866" y="5165850"/>
            <a:ext cx="715173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Visualizes how passengers group into four clusters in PCA space for exploratory comparison.</a:t>
            </a:r>
          </a:p>
          <a:p>
            <a:pPr algn="ctr"/>
            <a:endParaRPr lang="en-US"/>
          </a:p>
        </p:txBody>
      </p:sp>
      <p:pic>
        <p:nvPicPr>
          <p:cNvPr id="3" name="Picture 2" descr="ou seal.jpg">
            <a:extLst>
              <a:ext uri="{FF2B5EF4-FFF2-40B4-BE49-F238E27FC236}">
                <a16:creationId xmlns:a16="http://schemas.microsoft.com/office/drawing/2014/main" id="{EAA663DA-EBCE-EB37-8FF3-0660676ECF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641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B535A-2E42-2552-7E2F-33519ED17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No description has been provided for this image">
            <a:extLst>
              <a:ext uri="{FF2B5EF4-FFF2-40B4-BE49-F238E27FC236}">
                <a16:creationId xmlns:a16="http://schemas.microsoft.com/office/drawing/2014/main" id="{2F714FA2-ECD6-C84C-3364-EA35D2969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8417" y="1412015"/>
            <a:ext cx="5359135" cy="36216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96D351-C1D1-916E-CCD6-8FDB01F0C412}"/>
              </a:ext>
            </a:extLst>
          </p:cNvPr>
          <p:cNvSpPr txBox="1"/>
          <p:nvPr/>
        </p:nvSpPr>
        <p:spPr>
          <a:xfrm>
            <a:off x="1256702" y="5284131"/>
            <a:ext cx="714524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Elbow curve (ensemble K-Means): Uses multiple seeds for more stable SSE values across k, improving reliability.</a:t>
            </a:r>
          </a:p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6E34814-7FE4-DCB9-0390-0F9728D9E1D2}"/>
              </a:ext>
            </a:extLst>
          </p:cNvPr>
          <p:cNvSpPr txBox="1">
            <a:spLocks/>
          </p:cNvSpPr>
          <p:nvPr/>
        </p:nvSpPr>
        <p:spPr>
          <a:xfrm>
            <a:off x="445231" y="717475"/>
            <a:ext cx="8253537" cy="700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"/>
                <a:cs typeface="Calibri"/>
              </a:rPr>
              <a:t>Results - K Means Clustering</a:t>
            </a: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7966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o description has been provided for this image">
            <a:extLst>
              <a:ext uri="{FF2B5EF4-FFF2-40B4-BE49-F238E27FC236}">
                <a16:creationId xmlns:a16="http://schemas.microsoft.com/office/drawing/2014/main" id="{5360837C-48E5-2572-DF32-846555D40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550" y="1102133"/>
            <a:ext cx="5130900" cy="38107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FFACE8-CB34-C206-13E7-DC95EB781429}"/>
              </a:ext>
            </a:extLst>
          </p:cNvPr>
          <p:cNvSpPr txBox="1"/>
          <p:nvPr/>
        </p:nvSpPr>
        <p:spPr>
          <a:xfrm>
            <a:off x="842883" y="5101996"/>
            <a:ext cx="747100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Final cluster map for k=2: Shows the clean separation produced by the chosen 2-cluster solution used for interpretation.</a:t>
            </a:r>
          </a:p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FEA36D-5A7C-210D-7C11-9C07191F5F6D}"/>
              </a:ext>
            </a:extLst>
          </p:cNvPr>
          <p:cNvSpPr txBox="1">
            <a:spLocks/>
          </p:cNvSpPr>
          <p:nvPr/>
        </p:nvSpPr>
        <p:spPr>
          <a:xfrm>
            <a:off x="700650" y="576995"/>
            <a:ext cx="8253537" cy="700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"/>
                <a:cs typeface="Calibri"/>
              </a:rPr>
              <a:t>Results - K Means Clustering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ou seal.jpg">
            <a:extLst>
              <a:ext uri="{FF2B5EF4-FFF2-40B4-BE49-F238E27FC236}">
                <a16:creationId xmlns:a16="http://schemas.microsoft.com/office/drawing/2014/main" id="{9296687E-23CC-E35F-0EDA-4F66079BDAF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95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51AE-9600-7C25-D229-1D9B62BE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Results – K Means Clustering</a:t>
            </a:r>
            <a:endParaRPr lang="en-US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959B153-5A91-DC09-2698-FEC98AB39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850" y="1717768"/>
            <a:ext cx="6972300" cy="2324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7734E1-D8BB-930D-BCE3-B299FD2C8BF3}"/>
              </a:ext>
            </a:extLst>
          </p:cNvPr>
          <p:cNvSpPr txBox="1"/>
          <p:nvPr/>
        </p:nvSpPr>
        <p:spPr>
          <a:xfrm>
            <a:off x="1085531" y="4335737"/>
            <a:ext cx="735606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Internal validation metrics (Inertia, Calinski–Harabasz, Silhouette, Davies–Bouldin) for K-Means across k = 2…10, showing strongest cluster separation at k = 2.</a:t>
            </a:r>
          </a:p>
          <a:p>
            <a:pPr algn="ctr"/>
            <a:endParaRPr lang="en-US"/>
          </a:p>
        </p:txBody>
      </p: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D211380D-A935-E9FB-B7A8-93491CB0CE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99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5E92-3CCD-0419-E5A0-7A07E2C35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1542-E1FC-033F-52AB-B73B2CFC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891" y="669076"/>
            <a:ext cx="8253537" cy="545335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Calibri"/>
                <a:cs typeface="Calibri"/>
              </a:rPr>
              <a:t>Clustering – K Means Clustering</a:t>
            </a: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BF554B-E02E-1FB9-2190-42ECAEED42AE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C88544BE-5462-3DA7-E408-A1E2DFBD7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167753-4EE9-715D-BCCA-5732FEF3CB43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5DE6BC1A-0042-9B16-888B-1D745DF906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812529-561A-A9EE-A748-2A8084ABC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95" y="1505659"/>
            <a:ext cx="4151807" cy="4120146"/>
          </a:xfrm>
          <a:prstGeom prst="rect">
            <a:avLst/>
          </a:prstGeom>
        </p:spPr>
      </p:pic>
      <p:pic>
        <p:nvPicPr>
          <p:cNvPr id="16" name="Picture 1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358708E0-456B-35C7-2FDD-FB258365D7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74" y="1392382"/>
            <a:ext cx="4102582" cy="4243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AA2AF6-5C97-11ED-D02B-364C797A74CC}"/>
              </a:ext>
            </a:extLst>
          </p:cNvPr>
          <p:cNvSpPr txBox="1"/>
          <p:nvPr/>
        </p:nvSpPr>
        <p:spPr>
          <a:xfrm>
            <a:off x="418607" y="1028679"/>
            <a:ext cx="36730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Cluster Profile Table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78473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F832D-10D4-35B0-F00D-ABFEFC3E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BB1C-2B58-8FD6-4817-A3928C54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latin typeface="Calibri"/>
                <a:ea typeface="+mj-lt"/>
                <a:cs typeface="+mj-lt"/>
              </a:rPr>
              <a:t>Regression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1AD5F-1F90-6464-B473-2390741C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The goal of this part is to measure how changes in service quality and flight delays influence passenger satisfaction.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We construct two main features : a Total Service Score that adds up all fourteen service rating variables, and a Total Delay value that adds the departure delay and the arrival delay.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These features are used as inputs to regression models where the target is the numeric satisfaction label, coded as zero for not satisfied and one for satisfied.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CCB266-41E2-3B9C-A8EA-DB3281B6F584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94256AA3-B80B-9220-5BA9-C68360689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DEE2C2-E6D6-CF31-E480-F1BE8A81BC3B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F008B401-E357-CE6C-F2FD-D6274D25CF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2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36B06-C151-1E6F-BF5A-C14E96642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F6F97-F180-7BC7-DFAE-E76F2980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>
                <a:latin typeface="Calibri"/>
                <a:ea typeface="Calibri"/>
                <a:cs typeface="Sabon Next LT"/>
              </a:rPr>
            </a:br>
            <a:r>
              <a:rPr lang="en-US" b="1">
                <a:latin typeface="Calibri"/>
                <a:ea typeface="Calibri"/>
                <a:cs typeface="Sabon Next LT"/>
              </a:rPr>
              <a:t>Regression</a:t>
            </a: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CB94-2627-2AE3-209E-8194D4A7B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Converted satisfaction to a numeric 0/1 target and built two main features: Total Service Score and Total Delay.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Trained a baseline linear regression model to link these features to satisfaction.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Added Ridge and Lasso regression to handle correlated service variables and </a:t>
            </a:r>
            <a:r>
              <a:rPr lang="en-US" sz="2000" err="1">
                <a:ea typeface="+mn-lt"/>
                <a:cs typeface="+mn-lt"/>
              </a:rPr>
              <a:t>stabilise</a:t>
            </a:r>
            <a:r>
              <a:rPr lang="en-US" sz="2000">
                <a:ea typeface="+mn-lt"/>
                <a:cs typeface="+mn-lt"/>
              </a:rPr>
              <a:t> the coefficients.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Applied piecewise regression on Total Delay with a 120-minute split to capture any non-linear delay effects.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Compared all models using MSE, RMSE, and R² and selected the best settings based on these metrics.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953D42-3B63-237A-686A-EAEDEDB96B5E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7F4A81C0-382C-EBE4-DEC9-52AAB1F0C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DCFA4-9B8C-EA29-1ED8-4A3CF44DD0FA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954156DC-E60B-7E7D-4230-C7940B2D89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1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E33D-E944-6BE7-7C58-43E75629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1E006-4F4C-225B-B607-88EA4A1D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>
                <a:latin typeface="Calibri"/>
                <a:ea typeface="Calibri"/>
                <a:cs typeface="Sabon Next LT"/>
              </a:rPr>
            </a:br>
            <a:r>
              <a:rPr lang="en-US" sz="4000" b="1">
                <a:latin typeface="Calibri"/>
                <a:ea typeface="Calibri"/>
                <a:cs typeface="Sabon Next LT"/>
              </a:rPr>
              <a:t>Regression</a:t>
            </a:r>
          </a:p>
          <a:p>
            <a:endParaRPr lang="en-US" sz="4000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DF5CE-9E15-74C0-83EC-F5DE8F3A9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Regression captures about one quarter of the variation in satisfaction (best Ridge: MSE 0.1848, RMSE 0.4298, R² 0.2475).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From the Total Service Score plot, satisfaction rises steeply for higher service scores; with R² 0.65, service quality is the main driver.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The Delay Category plot shows a mild downward trend (R² 0.34): longer delays reduce satisfaction, but the effect is weaker than service quality.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</a:rPr>
              <a:t>The Piecewise Delay Regression plot shows almost no R² gain after splitting at 120 minutes, so delay effects appear gradual rather than a sharp drop.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AC47D-7112-05E8-C996-9B1D7B6934FF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040C00ED-AAA5-A818-B256-5DA92C54D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E1CB4-3EAF-D76F-747E-CAFE95846396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45B63050-6244-42A3-8F0F-61B23EE0DE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87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0CC89-2022-BF7D-CFDB-49060506A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687C3-BE30-8B5F-A7A9-D8D00786E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4000">
                <a:ea typeface="Calibri"/>
                <a:cs typeface="Calibri"/>
              </a:rPr>
            </a:br>
            <a:r>
              <a:rPr lang="en-US" sz="4000" b="1">
                <a:ea typeface="Calibri"/>
                <a:cs typeface="Calibri"/>
              </a:rPr>
              <a:t>Regression</a:t>
            </a:r>
            <a:endParaRPr lang="en-US" sz="4000">
              <a:ea typeface="Calibri"/>
              <a:cs typeface="Calibri"/>
            </a:endParaRPr>
          </a:p>
          <a:p>
            <a:endParaRPr lang="en-US" sz="40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94771C-4643-1B43-BD52-33B5431391D9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4A1D6480-193D-7774-B8AB-C1BF2A9D4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64A9F2-B4F4-07C5-C11F-7EC846335CB9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5BC3CB05-14AF-7F9E-1AB2-8662DBE36C5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pic>
        <p:nvPicPr>
          <p:cNvPr id="10" name="Content Placeholder 9" descr="A graph with blue dots and a red line&#10;&#10;AI-generated content may be incorrect.">
            <a:extLst>
              <a:ext uri="{FF2B5EF4-FFF2-40B4-BE49-F238E27FC236}">
                <a16:creationId xmlns:a16="http://schemas.microsoft.com/office/drawing/2014/main" id="{DE467CE4-FD93-A829-A0FB-28BD7E94D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549173" y="1421572"/>
            <a:ext cx="6035449" cy="347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5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8914-BDE6-D3A0-659C-81B0E4701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C5C24-0443-175F-0870-B5E24307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4000">
                <a:ea typeface="Calibri"/>
                <a:cs typeface="Calibri"/>
              </a:rPr>
            </a:br>
            <a:r>
              <a:rPr lang="en-US" sz="4000" b="1">
                <a:ea typeface="Calibri"/>
                <a:cs typeface="Calibri"/>
              </a:rPr>
              <a:t>Regression</a:t>
            </a:r>
            <a:endParaRPr lang="en-US" sz="4000">
              <a:ea typeface="Calibri"/>
              <a:cs typeface="Calibri"/>
            </a:endParaRPr>
          </a:p>
          <a:p>
            <a:endParaRPr lang="en-US" sz="4000">
              <a:ea typeface="Calibri"/>
              <a:cs typeface="Calibri"/>
            </a:endParaRPr>
          </a:p>
        </p:txBody>
      </p:sp>
      <p:pic>
        <p:nvPicPr>
          <p:cNvPr id="4" name="Content Placeholder 3" descr="A graph with purple dots and orange lines&#10;&#10;AI-generated content may be incorrect.">
            <a:extLst>
              <a:ext uri="{FF2B5EF4-FFF2-40B4-BE49-F238E27FC236}">
                <a16:creationId xmlns:a16="http://schemas.microsoft.com/office/drawing/2014/main" id="{F5E6E43A-1EA7-4558-ABAA-FA71C0D36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5950" y="1527156"/>
            <a:ext cx="8229600" cy="321155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57D0391-EAC6-F158-0DB4-6F6F9271F0D1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F1D21DFB-DA9A-753A-7A8D-3CAC3400B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BEDD58-539C-FAE7-6FA0-9B53DEFE204B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602E8605-2003-1F62-E7C0-137886907D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15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2B4B2-4C2C-B529-1768-54CADBD5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A026F-5A56-BA04-C2A1-1B95EF44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>
                <a:ea typeface="Calibri"/>
                <a:cs typeface="Calibri"/>
              </a:rPr>
            </a:br>
            <a:r>
              <a:rPr lang="en-US" sz="4000" b="1">
                <a:ea typeface="Calibri"/>
                <a:cs typeface="Calibri"/>
              </a:rPr>
              <a:t>Regression</a:t>
            </a:r>
            <a:endParaRPr lang="en-US" sz="40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A graph with green lines and numbers&#10;&#10;AI-generated content may be incorrect.">
            <a:extLst>
              <a:ext uri="{FF2B5EF4-FFF2-40B4-BE49-F238E27FC236}">
                <a16:creationId xmlns:a16="http://schemas.microsoft.com/office/drawing/2014/main" id="{4C042DCA-A6B1-2A5D-F7E2-92B511CCD2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852" y="1421034"/>
            <a:ext cx="6892699" cy="37514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CEA2CC-C86A-016A-DE04-A73BD0EA7639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5AE5DC88-FC96-A24B-4EFD-67CF9C7BA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CE3B9C-A053-68C0-96FC-8D5066ED85FC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ou seal.jpg">
            <a:extLst>
              <a:ext uri="{FF2B5EF4-FFF2-40B4-BE49-F238E27FC236}">
                <a16:creationId xmlns:a16="http://schemas.microsoft.com/office/drawing/2014/main" id="{46743055-D032-46BC-6867-F970227586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223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70DD8-243A-AFD4-6CAD-374A6D916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435542B-4BEA-81EF-8AB1-7DFD7999615D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ou.png">
            <a:extLst>
              <a:ext uri="{FF2B5EF4-FFF2-40B4-BE49-F238E27FC236}">
                <a16:creationId xmlns:a16="http://schemas.microsoft.com/office/drawing/2014/main" id="{2A0E98C9-7B48-A0BD-E06C-BBF4583F8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55564D-6B14-A0CF-04E1-4636DEBE9A51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>
            <a:extLst>
              <a:ext uri="{FF2B5EF4-FFF2-40B4-BE49-F238E27FC236}">
                <a16:creationId xmlns:a16="http://schemas.microsoft.com/office/drawing/2014/main" id="{942BE2B9-E708-FE8E-A679-9F7AE8F6D3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F90CF0-5F3E-E250-D703-CBFE6C05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426" y="180018"/>
            <a:ext cx="7920470" cy="772119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        Classification-Random Forest 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EC4A5-87E5-AC2A-0FAE-CF06FD692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60" y="1267800"/>
            <a:ext cx="8588838" cy="43213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700">
                <a:ea typeface="+mn-lt"/>
                <a:cs typeface="+mn-lt"/>
              </a:rPr>
              <a:t>Random Forest was chosen because it handles high-dimensional tabular data extremely well, especially mixed features like service ratings, delays, and travel attributes.</a:t>
            </a:r>
          </a:p>
          <a:p>
            <a:pPr marL="0" indent="0" algn="just">
              <a:buNone/>
            </a:pPr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It reduces overfitting by combining many decision trees, each trained on different subsets of data and features.</a:t>
            </a: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The airline dataset shows many correlated service features (e.g., entertainment, comfort, cleanliness); Random Forest naturally stabilizes predictions under such correlations.</a:t>
            </a:r>
            <a:endParaRPr lang="en-US" sz="1700">
              <a:ea typeface="Calibri"/>
              <a:cs typeface="Calibri"/>
            </a:endParaRP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It provides feature importance, helping us interpret which service or operational factors drive satisfaction.</a:t>
            </a:r>
            <a:endParaRPr lang="en-US" sz="1700">
              <a:ea typeface="Calibri"/>
              <a:cs typeface="Calibri"/>
            </a:endParaRP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Our fully from-scratch implementation let us control Gini impurity, threshold scanning, bootstrapping, and OOB scoring directly. </a:t>
            </a:r>
            <a:endParaRPr lang="en-US" sz="1700">
              <a:ea typeface="Calibri"/>
              <a:cs typeface="Calibri"/>
            </a:endParaRPr>
          </a:p>
          <a:p>
            <a:pPr algn="just"/>
            <a:endParaRPr lang="en-US" sz="1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73149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6779B-0319-A5BB-5EC2-FC1C506B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54CE2A6-ACB7-A37B-A57E-5DA1DABC0E90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ou.png">
            <a:extLst>
              <a:ext uri="{FF2B5EF4-FFF2-40B4-BE49-F238E27FC236}">
                <a16:creationId xmlns:a16="http://schemas.microsoft.com/office/drawing/2014/main" id="{FDE9A5F0-350D-97F7-58FB-301CB416B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4CEEBF-CA78-9C80-5E7E-D87EBB8A1FB5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>
            <a:extLst>
              <a:ext uri="{FF2B5EF4-FFF2-40B4-BE49-F238E27FC236}">
                <a16:creationId xmlns:a16="http://schemas.microsoft.com/office/drawing/2014/main" id="{FB3C23CF-8BF4-569B-8CF9-D0FA991301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0822AD-DE74-6202-9B22-4BE49ECC8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426" y="180018"/>
            <a:ext cx="7920470" cy="772119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Calibri"/>
                <a:cs typeface="Calibri"/>
              </a:rPr>
              <a:t>        Classification-Random Forest 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45D7-09BC-2A03-5E73-967027312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60" y="1267800"/>
            <a:ext cx="8588838" cy="432138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700">
                <a:ea typeface="+mn-lt"/>
                <a:cs typeface="+mn-lt"/>
              </a:rPr>
              <a:t>Each decision tree is a CART tree that uses Gini impurity to choose the best split. </a:t>
            </a: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The tree only splits when it clearly improves purity and meets minimum leaf size rules.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The forest is created by training many trees on bootstrap samples, each using different subsets of features, which makes the model stronger and more stable.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We use Out-of-Bag (OOB) evaluation trees predict on data they never saw, giving a natural, unbiased accuracy estimate.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>
                <a:ea typeface="+mn-lt"/>
                <a:cs typeface="+mn-lt"/>
              </a:rPr>
              <a:t>This approach fits our dataset well because it handles delay values, service ratings, demographics, and travel attributes without needing heavy preprocessing.</a:t>
            </a:r>
            <a:endParaRPr lang="en-US">
              <a:ea typeface="+mn-lt"/>
              <a:cs typeface="+mn-lt"/>
            </a:endParaRPr>
          </a:p>
          <a:p>
            <a:pPr algn="just"/>
            <a:endParaRPr lang="en-US" sz="17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9653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2F7B5-78FF-D0D1-DC32-A3A312FA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E435E25-6DB2-CD87-115F-51BC69FED825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ou.png">
            <a:extLst>
              <a:ext uri="{FF2B5EF4-FFF2-40B4-BE49-F238E27FC236}">
                <a16:creationId xmlns:a16="http://schemas.microsoft.com/office/drawing/2014/main" id="{0C6BEE57-CC55-48E4-5AB6-767E28B78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5A78E1-D179-ABE5-065A-BDE8E05962A4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>
            <a:extLst>
              <a:ext uri="{FF2B5EF4-FFF2-40B4-BE49-F238E27FC236}">
                <a16:creationId xmlns:a16="http://schemas.microsoft.com/office/drawing/2014/main" id="{0368E282-4BE7-01D1-F5CF-FF68A25D9E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FEC4FB-399D-AC53-784A-C817F9F5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426" y="180018"/>
            <a:ext cx="7920470" cy="772119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Performance                              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E609D2-B796-54BB-110B-F04A1CE94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1831" y="1271584"/>
            <a:ext cx="4394731" cy="44689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307A04-B966-DE45-B052-83CE38390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927" y="1274459"/>
            <a:ext cx="4139023" cy="44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33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F09B9-271C-6549-13BF-92B021899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BB5430-9A29-92CC-1F2C-04B802AB629D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ou.png">
            <a:extLst>
              <a:ext uri="{FF2B5EF4-FFF2-40B4-BE49-F238E27FC236}">
                <a16:creationId xmlns:a16="http://schemas.microsoft.com/office/drawing/2014/main" id="{B28D7398-3CF3-A261-CBB2-C86675702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A9FD74-E207-B4D5-EF8A-DA53BCEC71F5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>
            <a:extLst>
              <a:ext uri="{FF2B5EF4-FFF2-40B4-BE49-F238E27FC236}">
                <a16:creationId xmlns:a16="http://schemas.microsoft.com/office/drawing/2014/main" id="{8FB3E185-5D1E-D845-B663-B939B54B3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52C030-0A6A-82D2-1F04-F8A363B1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426" y="180018"/>
            <a:ext cx="7920470" cy="772119"/>
          </a:xfrm>
        </p:spPr>
        <p:txBody>
          <a:bodyPr/>
          <a:lstStyle/>
          <a:p>
            <a:r>
              <a:rPr lang="en-US" b="1">
                <a:ea typeface="Calibri"/>
                <a:cs typeface="Calibri"/>
              </a:rPr>
              <a:t>Performance            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C9E1C-E1D7-1C8A-EEF7-497C231CF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8915" y="1255726"/>
            <a:ext cx="4059345" cy="4141043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8C02AD-1DC2-2728-A2B0-1DDA1FDC82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130" y="1260904"/>
            <a:ext cx="4092575" cy="391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6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E790C-3008-C3C6-94AE-7B32A58A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084F439-9F70-FCA5-700A-2D03370471F7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ou.png">
            <a:extLst>
              <a:ext uri="{FF2B5EF4-FFF2-40B4-BE49-F238E27FC236}">
                <a16:creationId xmlns:a16="http://schemas.microsoft.com/office/drawing/2014/main" id="{6FF2A230-3D18-49CE-D7DD-ACEEE7652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C68E389-97C3-01B9-40D2-DD58F4A0BF6A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ou seal.jpg">
            <a:extLst>
              <a:ext uri="{FF2B5EF4-FFF2-40B4-BE49-F238E27FC236}">
                <a16:creationId xmlns:a16="http://schemas.microsoft.com/office/drawing/2014/main" id="{DD829616-87AF-A119-904C-99A896AA34D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894F29-3457-6345-1036-9EA638DF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7426" y="180018"/>
            <a:ext cx="7920470" cy="772119"/>
          </a:xfrm>
        </p:spPr>
        <p:txBody>
          <a:bodyPr/>
          <a:lstStyle/>
          <a:p>
            <a:r>
              <a:rPr lang="en-US" b="1">
                <a:ea typeface="Calibri"/>
                <a:cs typeface="Calibri"/>
              </a:rPr>
              <a:t>Performance                            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0B067F-EAD1-3F72-CD3A-7725F8BAD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40967" y="1600200"/>
            <a:ext cx="7406415" cy="378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81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7E18-37CD-6D43-A1C6-92375C705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D6378-6455-9841-BDD9-F048D427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DEMO SCREENSHOTS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53E4A-1D73-52CD-4FD8-E482F50A3912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5D691172-A3B2-9134-3CEC-14446F546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0D1BB-6AE0-3EE0-50E7-4758462325C5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3F0878-BF43-6E8B-0B2C-7FADFD159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81" y="1202864"/>
            <a:ext cx="5821637" cy="443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45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DB8F1-F503-A5BC-A809-1AE0B2FA0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C8AC-AC2E-F7B4-225F-FC85ADCB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DEMO SCREENSHOTS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A0201-20E3-21A9-08CC-19DF149E6561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9A6FB644-AA18-8F68-326A-06DFE188F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6BDD85-3345-C0A8-4DCA-A813188B7AF4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7BF5CC-3204-2068-0C14-D40D1D50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584" y="1235989"/>
            <a:ext cx="5155791" cy="402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8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49F4-425E-77CC-0B7D-F8854E42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5062-BF7C-ABFE-3A5F-0D8B93C2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DEMO SCREENSHOTS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8C9023-651A-ABE0-C56A-D76B932BB381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9461F462-BC77-A878-3388-A2DB1C5D4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E09BAF-FF79-5FB1-9D47-096F0A129ED0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78C7F1B-322B-40A8-6043-22152B95D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62" y="1413957"/>
            <a:ext cx="7849876" cy="256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05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C62EE-57D0-87FA-F293-78E465755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C62E-1120-7069-570E-EFFDF05BD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DEMO SCREENSHOTS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D85FDF-8123-1B03-A86E-7AE095B93711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B03049F8-A820-CE86-CB6A-79476F8EB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332E169-B9F0-29BF-C8D2-1481CBF1BD40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dashboard&#10;&#10;AI-generated content may be incorrect.">
            <a:extLst>
              <a:ext uri="{FF2B5EF4-FFF2-40B4-BE49-F238E27FC236}">
                <a16:creationId xmlns:a16="http://schemas.microsoft.com/office/drawing/2014/main" id="{F2E7F125-AA59-618B-E452-4B9937D2A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500" y="1586418"/>
            <a:ext cx="4366174" cy="3685163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C78D7DC-85C9-C99F-A2D9-731D33E4F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205" y="1413691"/>
            <a:ext cx="4160721" cy="383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85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2F66-B441-5AB2-CAFB-30610AC2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F156-66DA-5EEB-2676-014A273A3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0994-E762-149D-6E7C-FF2330234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Built an end-to-end data mining pipeline with preprocessing, EDA, PCA, regression, K-Means, and a from-scratch Random Forest.</a:t>
            </a:r>
            <a:endParaRPr lang="en-US" sz="1800">
              <a:latin typeface="Arial"/>
              <a:ea typeface="Calibri"/>
              <a:cs typeface="Arial"/>
            </a:endParaRPr>
          </a:p>
          <a:p>
            <a:r>
              <a:rPr lang="en-US" sz="1800">
                <a:ea typeface="+mn-lt"/>
                <a:cs typeface="+mn-lt"/>
              </a:rPr>
              <a:t>Regression showed how service and operational factors impact satisfaction.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K-Means found two key segments: high-service loyal/business flyers vs. lower-service economy/personal travelers.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Random Forest delivered strong prediction accuracy on passenger satisfaction.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Deployed models in a React–Flask web app for real-time predictions and interactive dashboards.</a:t>
            </a:r>
            <a:endParaRPr lang="en-US"/>
          </a:p>
          <a:p>
            <a:r>
              <a:rPr lang="en-US" sz="1800">
                <a:ea typeface="+mn-lt"/>
                <a:cs typeface="+mn-lt"/>
              </a:rPr>
              <a:t>Future work: integrate with airline CRM/check-in systems and run A/B tests to refine thresholds and recommendations.</a:t>
            </a:r>
            <a:endParaRPr lang="en-US"/>
          </a:p>
          <a:p>
            <a:endParaRPr lang="en-US" sz="1800">
              <a:latin typeface="Arial"/>
              <a:ea typeface="Calibri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29AA0-68D0-5ADB-FBBD-D4465F647C87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8976032D-F124-52F1-3B5C-87D75A6FC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47598D-DD9E-98FD-0925-32E7D113FB2D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ou seal.jpg">
            <a:extLst>
              <a:ext uri="{FF2B5EF4-FFF2-40B4-BE49-F238E27FC236}">
                <a16:creationId xmlns:a16="http://schemas.microsoft.com/office/drawing/2014/main" id="{9FD88CA0-A136-A12C-E135-98A6CAB9275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453" y="263263"/>
            <a:ext cx="783494" cy="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760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C8A6D-8870-995A-357F-877FF567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75BD-361C-6F57-E393-6AF868EF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C7FA2-8479-BF1B-BCE6-DB874364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477" y="2243138"/>
            <a:ext cx="4137252" cy="14949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6000">
                <a:ea typeface="Calibri"/>
                <a:cs typeface="Calibri"/>
              </a:rPr>
              <a:t>THANK YOU </a:t>
            </a:r>
            <a:endParaRPr lang="en-US" sz="5400"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6F0D0-80CD-6FC1-22F3-45143923EDF9}"/>
              </a:ext>
            </a:extLst>
          </p:cNvPr>
          <p:cNvSpPr/>
          <p:nvPr/>
        </p:nvSpPr>
        <p:spPr>
          <a:xfrm>
            <a:off x="0" y="5914570"/>
            <a:ext cx="9144000" cy="967621"/>
          </a:xfrm>
          <a:prstGeom prst="rect">
            <a:avLst/>
          </a:prstGeom>
          <a:solidFill>
            <a:srgbClr val="46040A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blurRad="40000" dist="23000" dir="5400000" rotWithShape="0">
              <a:schemeClr val="tx1">
                <a:lumMod val="75000"/>
                <a:lumOff val="25000"/>
                <a:alpha val="3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ou.png">
            <a:extLst>
              <a:ext uri="{FF2B5EF4-FFF2-40B4-BE49-F238E27FC236}">
                <a16:creationId xmlns:a16="http://schemas.microsoft.com/office/drawing/2014/main" id="{04F948C5-4069-64E0-5F49-1C89766B8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74" y="6011502"/>
            <a:ext cx="5134142" cy="60980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68FF0-3920-B60B-65AB-C8C23C8DE425}"/>
              </a:ext>
            </a:extLst>
          </p:cNvPr>
          <p:cNvCxnSpPr/>
          <p:nvPr/>
        </p:nvCxnSpPr>
        <p:spPr>
          <a:xfrm>
            <a:off x="0" y="5855652"/>
            <a:ext cx="9144000" cy="0"/>
          </a:xfrm>
          <a:prstGeom prst="line">
            <a:avLst/>
          </a:prstGeom>
          <a:ln w="1492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02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Analyzing &amp; Predicting Airline Passenger Satisfaction </vt:lpstr>
      <vt:lpstr>Outline</vt:lpstr>
      <vt:lpstr>Introduction</vt:lpstr>
      <vt:lpstr>Related Work</vt:lpstr>
      <vt:lpstr> System Architecture </vt:lpstr>
      <vt:lpstr> Proposed Work </vt:lpstr>
      <vt:lpstr>Clustering – K Means Clustering </vt:lpstr>
      <vt:lpstr>Clustering – K Means Clustering </vt:lpstr>
      <vt:lpstr>Results - K Means Clustering </vt:lpstr>
      <vt:lpstr>Results - K Means Clustering </vt:lpstr>
      <vt:lpstr>PowerPoint Presentation</vt:lpstr>
      <vt:lpstr>PowerPoint Presentation</vt:lpstr>
      <vt:lpstr>PowerPoint Presentation</vt:lpstr>
      <vt:lpstr>Results – K Means Clustering</vt:lpstr>
      <vt:lpstr>Clustering – K Means Clustering </vt:lpstr>
      <vt:lpstr>Regression</vt:lpstr>
      <vt:lpstr> Regression </vt:lpstr>
      <vt:lpstr> Regression </vt:lpstr>
      <vt:lpstr> Regression </vt:lpstr>
      <vt:lpstr> Regression </vt:lpstr>
      <vt:lpstr> Regression </vt:lpstr>
      <vt:lpstr>        Classification-Random Forest </vt:lpstr>
      <vt:lpstr>        Classification-Random Forest </vt:lpstr>
      <vt:lpstr>Performance                              </vt:lpstr>
      <vt:lpstr>Performance                              </vt:lpstr>
      <vt:lpstr>Performance                              </vt:lpstr>
      <vt:lpstr>DEMO SCREENSHOTS</vt:lpstr>
      <vt:lpstr>DEMO SCREENSHOTS</vt:lpstr>
      <vt:lpstr>DEMO SCREENSHOTS</vt:lpstr>
      <vt:lpstr>DEMO SCREENSHOTS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Erin Baird</dc:creator>
  <cp:revision>19</cp:revision>
  <dcterms:created xsi:type="dcterms:W3CDTF">2012-08-18T17:21:18Z</dcterms:created>
  <dcterms:modified xsi:type="dcterms:W3CDTF">2025-12-11T11:51:33Z</dcterms:modified>
</cp:coreProperties>
</file>